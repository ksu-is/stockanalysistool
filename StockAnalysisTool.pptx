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172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rgbClr val="38BDF8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7432"/>
            <a:ext cx="4389120" cy="1005840"/>
          </a:xfrm>
          <a:prstGeom prst="rect">
            <a:avLst/>
          </a:prstGeom>
          <a:solidFill>
            <a:srgbClr val="06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38BDF8"/>
                </a:solidFill>
              </a:rPr>
              <a:t>STOCK ANALYSIS TOOL</a:t>
            </a:r>
            <a:r>
              <a:rPr lang="en-US" sz="1300" b="1" i="0" dirty="0">
                <a:solidFill>
                  <a:srgbClr val="38BDF8"/>
                </a:solidFill>
              </a:rPr>
              <a:t> BY TRAI CAJAR</a:t>
            </a:r>
            <a:endParaRPr sz="1300" b="1" i="0" dirty="0">
              <a:solidFill>
                <a:srgbClr val="38BDF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530352"/>
            <a:ext cx="39319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8AA0B8"/>
                </a:solidFill>
              </a:rPr>
              <a:t>AI-Powered </a:t>
            </a:r>
            <a:r>
              <a:rPr lang="en-US" sz="850" b="0" i="0" dirty="0">
                <a:solidFill>
                  <a:srgbClr val="8AA0B8"/>
                </a:solidFill>
              </a:rPr>
              <a:t>Investment Recommendations For Those Wanting to Enter the Market (And </a:t>
            </a:r>
            <a:r>
              <a:rPr lang="en-US" sz="850" b="0" i="0">
                <a:solidFill>
                  <a:srgbClr val="8AA0B8"/>
                </a:solidFill>
              </a:rPr>
              <a:t>Become Millionaires) </a:t>
            </a:r>
            <a:endParaRPr sz="850" b="0" i="0" dirty="0">
              <a:solidFill>
                <a:srgbClr val="8AA0B8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19456" y="2020825"/>
            <a:ext cx="475488" cy="47548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2496313"/>
            <a:ext cx="54864" cy="850392"/>
          </a:xfrm>
          <a:prstGeom prst="rect">
            <a:avLst/>
          </a:prstGeom>
          <a:solidFill>
            <a:srgbClr val="2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082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Enter Ticker Symbol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3291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8AA0B8"/>
                </a:solidFill>
              </a:rPr>
              <a:t>Type any stock symbol
</a:t>
            </a:r>
            <a:r>
              <a:rPr lang="en-US" sz="850" b="0" i="0" dirty="0">
                <a:solidFill>
                  <a:srgbClr val="8AA0B8"/>
                </a:solidFill>
              </a:rPr>
              <a:t>e.g.,</a:t>
            </a:r>
            <a:r>
              <a:rPr sz="850" b="0" i="0" dirty="0">
                <a:solidFill>
                  <a:srgbClr val="8AA0B8"/>
                </a:solidFill>
              </a:rPr>
              <a:t> </a:t>
            </a:r>
            <a:r>
              <a:rPr lang="en-US" sz="850" b="0" i="0" dirty="0">
                <a:solidFill>
                  <a:srgbClr val="8AA0B8"/>
                </a:solidFill>
              </a:rPr>
              <a:t>QQQ</a:t>
            </a:r>
            <a:r>
              <a:rPr sz="850" b="0" i="0" dirty="0">
                <a:solidFill>
                  <a:srgbClr val="8AA0B8"/>
                </a:solidFill>
              </a:rPr>
              <a:t>, INTC, VZ, </a:t>
            </a:r>
            <a:r>
              <a:rPr lang="en-US" sz="850" b="0" i="0" dirty="0">
                <a:solidFill>
                  <a:srgbClr val="8AA0B8"/>
                </a:solidFill>
              </a:rPr>
              <a:t>AMZN</a:t>
            </a:r>
            <a:endParaRPr sz="850" b="0" i="0" dirty="0">
              <a:solidFill>
                <a:srgbClr val="8AA0B8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19456" y="3346705"/>
            <a:ext cx="475488" cy="475488"/>
          </a:xfrm>
          <a:prstGeom prst="ellipse">
            <a:avLst/>
          </a:prstGeom>
          <a:solidFill>
            <a:srgbClr val="FBD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822193"/>
            <a:ext cx="54864" cy="850392"/>
          </a:xfrm>
          <a:prstGeom prst="rect">
            <a:avLst/>
          </a:prstGeom>
          <a:solidFill>
            <a:srgbClr val="2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38517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Fetch Live Market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93591"/>
            <a:ext cx="32918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8AA0B8"/>
                </a:solidFill>
              </a:rPr>
              <a:t>Yahoo Finance pulls price,
P/E, margins, debt &amp; more</a:t>
            </a:r>
            <a:r>
              <a:rPr lang="en-US" sz="850" b="0" i="0" dirty="0">
                <a:solidFill>
                  <a:srgbClr val="8AA0B8"/>
                </a:solidFill>
              </a:rPr>
              <a:t>!</a:t>
            </a:r>
            <a:endParaRPr sz="850" b="0" i="0" dirty="0">
              <a:solidFill>
                <a:srgbClr val="8AA0B8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19456" y="4672585"/>
            <a:ext cx="475488" cy="47548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5148073"/>
            <a:ext cx="54864" cy="850392"/>
          </a:xfrm>
          <a:prstGeom prst="rect">
            <a:avLst/>
          </a:prstGeom>
          <a:solidFill>
            <a:srgbClr val="2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72584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AI </a:t>
            </a:r>
            <a:r>
              <a:rPr lang="en-US" sz="1100" b="1" dirty="0">
                <a:solidFill>
                  <a:srgbClr val="FFFFFF"/>
                </a:solidFill>
              </a:rPr>
              <a:t>W</a:t>
            </a:r>
            <a:r>
              <a:rPr lang="en-US" sz="1100" b="1" i="0" dirty="0">
                <a:solidFill>
                  <a:srgbClr val="FFFFFF"/>
                </a:solidFill>
              </a:rPr>
              <a:t>ill Analyze Your Stock</a:t>
            </a:r>
            <a:endParaRPr sz="1100" b="1" i="0" dirty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488847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 err="1">
                <a:solidFill>
                  <a:srgbClr val="8AA0B8"/>
                </a:solidFill>
              </a:rPr>
              <a:t>Groq</a:t>
            </a:r>
            <a:r>
              <a:rPr sz="850" b="0" i="0" dirty="0">
                <a:solidFill>
                  <a:srgbClr val="8AA0B8"/>
                </a:solidFill>
              </a:rPr>
              <a:t> LLM reasons over
25+ financial metrics</a:t>
            </a:r>
          </a:p>
        </p:txBody>
      </p:sp>
      <p:sp>
        <p:nvSpPr>
          <p:cNvPr id="19" name="Oval 18"/>
          <p:cNvSpPr/>
          <p:nvPr/>
        </p:nvSpPr>
        <p:spPr>
          <a:xfrm>
            <a:off x="219456" y="5998464"/>
            <a:ext cx="475488" cy="47548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" y="599846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Get Your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233535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8AA0B8"/>
                </a:solidFill>
              </a:rPr>
              <a:t>BUY / HOLD / SELL with
5 data-driven reasons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116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A0B8"/>
                </a:solidFill>
              </a:rPr>
              <a:t>SAMPLE OUTPUT  ─  VZ (Verizon Communications)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685800"/>
            <a:ext cx="7132320" cy="9601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685800"/>
            <a:ext cx="64008" cy="9601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777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596"/>
                </a:solidFill>
              </a:rPr>
              <a:t>▲  BUY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7498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Verizon is a solid investment due to stable financials,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A0B8"/>
                </a:solidFill>
              </a:rPr>
              <a:t>attractive valuation, and a strong 6.1% dividend yield.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828800"/>
            <a:ext cx="1664208" cy="65836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82312" y="190195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</a:rPr>
              <a:t>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212140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$46.38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828800"/>
            <a:ext cx="1664208" cy="65836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9672" y="190195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</a:rPr>
              <a:t>1Y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212140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+18.12%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1828800"/>
            <a:ext cx="1664208" cy="65836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57032" y="190195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</a:rPr>
              <a:t>P/E 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212140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11.42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828800"/>
            <a:ext cx="1664208" cy="65836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94392" y="190195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</a:rPr>
              <a:t>MARKET CAP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4392" y="212140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$193.87B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560320"/>
            <a:ext cx="1664208" cy="65836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82312" y="263347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</a:rPr>
              <a:t>FWD P/E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2852927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8.83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560320"/>
            <a:ext cx="1664208" cy="65836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19672" y="263347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</a:rPr>
              <a:t>DIVIDEND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9672" y="2852927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6.1%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2560320"/>
            <a:ext cx="1664208" cy="65836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57032" y="263347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</a:rPr>
              <a:t>DEBT/EQUITY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7032" y="2852927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174.78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2560320"/>
            <a:ext cx="1664208" cy="65836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94392" y="2633472"/>
            <a:ext cx="14813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</a:rPr>
              <a:t>FREE CF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94392" y="2852927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$17.24B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AA0B8"/>
                </a:solidFill>
              </a:rPr>
              <a:t>AI REASONING</a:t>
            </a:r>
          </a:p>
        </p:txBody>
      </p:sp>
      <p:sp>
        <p:nvSpPr>
          <p:cNvPr id="53" name="Oval 52"/>
          <p:cNvSpPr/>
          <p:nvPr/>
        </p:nvSpPr>
        <p:spPr>
          <a:xfrm>
            <a:off x="4663440" y="3730752"/>
            <a:ext cx="128016" cy="128016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19472" y="3657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Forward P/E of 8.83 signals undervaluation vs trailing P/E of 11.42</a:t>
            </a:r>
          </a:p>
        </p:txBody>
      </p:sp>
      <p:sp>
        <p:nvSpPr>
          <p:cNvPr id="55" name="Oval 54"/>
          <p:cNvSpPr/>
          <p:nvPr/>
        </p:nvSpPr>
        <p:spPr>
          <a:xfrm>
            <a:off x="4663440" y="4242816"/>
            <a:ext cx="128016" cy="128016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19472" y="416966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6.1% dividend yield provides steady income above industry average</a:t>
            </a:r>
          </a:p>
        </p:txBody>
      </p:sp>
      <p:sp>
        <p:nvSpPr>
          <p:cNvPr id="57" name="Oval 56"/>
          <p:cNvSpPr/>
          <p:nvPr/>
        </p:nvSpPr>
        <p:spPr>
          <a:xfrm>
            <a:off x="4663440" y="4754880"/>
            <a:ext cx="128016" cy="128016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919472" y="46817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Gross margins of 59.07% reflect strong pricing power in telecom</a:t>
            </a:r>
          </a:p>
        </p:txBody>
      </p:sp>
      <p:sp>
        <p:nvSpPr>
          <p:cNvPr id="59" name="Oval 58"/>
          <p:cNvSpPr/>
          <p:nvPr/>
        </p:nvSpPr>
        <p:spPr>
          <a:xfrm>
            <a:off x="4663440" y="5266944"/>
            <a:ext cx="128016" cy="128016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19472" y="51937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$17.24B free cash flow supports continued dividend payments</a:t>
            </a:r>
          </a:p>
        </p:txBody>
      </p:sp>
      <p:sp>
        <p:nvSpPr>
          <p:cNvPr id="61" name="Oval 60"/>
          <p:cNvSpPr/>
          <p:nvPr/>
        </p:nvSpPr>
        <p:spPr>
          <a:xfrm>
            <a:off x="4663440" y="5779008"/>
            <a:ext cx="128016" cy="128016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19472" y="570585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Analyst consensus: BUY with $51.58 target — 11% upside from current price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3337560"/>
            <a:ext cx="1417320" cy="512064"/>
          </a:xfrm>
          <a:prstGeom prst="rect">
            <a:avLst/>
          </a:prstGeom>
          <a:solidFill>
            <a:srgbClr val="142A3E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61119" y="337413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8"/>
                </a:solidFill>
              </a:rPr>
              <a:t>RISK LEVEL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19" y="357530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42448" y="3337560"/>
            <a:ext cx="1417320" cy="512064"/>
          </a:xfrm>
          <a:prstGeom prst="rect">
            <a:avLst/>
          </a:prstGeom>
          <a:solidFill>
            <a:srgbClr val="142A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533888" y="337413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AA0B8"/>
                </a:solidFill>
              </a:rPr>
              <a:t>TIME HORIZON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33888" y="357530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MID-TERM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4320" y="6583680"/>
            <a:ext cx="11612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u="sng" dirty="0">
                <a:solidFill>
                  <a:srgbClr val="8AA0B8"/>
                </a:solidFill>
              </a:rPr>
              <a:t>NOT ACTUAL FINANCIAL ADVICE</a:t>
            </a:r>
            <a:endParaRPr sz="800" b="1" i="0" u="sng" dirty="0">
              <a:solidFill>
                <a:srgbClr val="8AA0B8"/>
              </a:solidFill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701EC502-CBE2-B6F6-728C-199925094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465" y="3968496"/>
            <a:ext cx="3385373" cy="256946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B231560D-0FB3-3B3E-D46C-8BD77868D71D}"/>
              </a:ext>
            </a:extLst>
          </p:cNvPr>
          <p:cNvSpPr txBox="1"/>
          <p:nvPr/>
        </p:nvSpPr>
        <p:spPr>
          <a:xfrm>
            <a:off x="274320" y="1012758"/>
            <a:ext cx="2020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REQUIREMENTS: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BAF8B7-0343-A2B9-D0D9-FC09F24CF5AD}"/>
              </a:ext>
            </a:extLst>
          </p:cNvPr>
          <p:cNvSpPr txBox="1"/>
          <p:nvPr/>
        </p:nvSpPr>
        <p:spPr>
          <a:xfrm>
            <a:off x="0" y="1241135"/>
            <a:ext cx="20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Need the code from GitHub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Get a free API Key from GROQ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902476-2C7C-1B85-123C-B363C88DFE34}"/>
              </a:ext>
            </a:extLst>
          </p:cNvPr>
          <p:cNvSpPr txBox="1"/>
          <p:nvPr/>
        </p:nvSpPr>
        <p:spPr>
          <a:xfrm>
            <a:off x="2152269" y="931348"/>
            <a:ext cx="1572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How to setup: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8308747-A9A8-A6AC-61DC-5B54698B4171}"/>
              </a:ext>
            </a:extLst>
          </p:cNvPr>
          <p:cNvSpPr txBox="1"/>
          <p:nvPr/>
        </p:nvSpPr>
        <p:spPr>
          <a:xfrm>
            <a:off x="2041398" y="1163295"/>
            <a:ext cx="2377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Go to </a:t>
            </a:r>
            <a:r>
              <a:rPr lang="en-US" sz="900" dirty="0" err="1">
                <a:solidFill>
                  <a:schemeClr val="bg1"/>
                </a:solidFill>
              </a:rPr>
              <a:t>cmd</a:t>
            </a:r>
            <a:r>
              <a:rPr lang="en-US" sz="900" dirty="0">
                <a:solidFill>
                  <a:schemeClr val="bg1"/>
                </a:solidFill>
              </a:rPr>
              <a:t> prompt and type “python -m pip install </a:t>
            </a:r>
            <a:r>
              <a:rPr lang="en-US" sz="900" dirty="0" err="1">
                <a:solidFill>
                  <a:schemeClr val="bg1"/>
                </a:solidFill>
              </a:rPr>
              <a:t>groq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yfinance</a:t>
            </a:r>
            <a:r>
              <a:rPr lang="en-US" sz="900" dirty="0">
                <a:solidFill>
                  <a:schemeClr val="bg1"/>
                </a:solidFill>
              </a:rPr>
              <a:t>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Then type in “set GROQ_API_KEY=“ (this is where your GROQ key goes)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</a:rPr>
              <a:t>Locate your folder within the prompt and run it with “python stock_analyzer.py”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298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Trai Cajar</cp:lastModifiedBy>
  <cp:revision>4</cp:revision>
  <dcterms:created xsi:type="dcterms:W3CDTF">2013-01-27T09:14:16Z</dcterms:created>
  <dcterms:modified xsi:type="dcterms:W3CDTF">2026-05-03T22:35:47Z</dcterms:modified>
  <cp:category/>
</cp:coreProperties>
</file>